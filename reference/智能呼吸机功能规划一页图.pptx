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2300" b="1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>智能呼吸机 — 六大功能联合：从单参数监测到多维智能通气管理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六大功能联动  |  联合解决的痛点  |  各自侧重  |  临床范畴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78992"/>
            <a:ext cx="1719072" cy="96012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719072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DP 驱动压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累积暴露风险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7190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1C7293"/>
                </a:solidFill>
                <a:latin typeface="Microsoft YaHei"/>
                <a:ea typeface="Microsoft YaHei"/>
                <a:cs typeface="Microsoft YaHei"/>
              </a:rPr>
              <a:t>肺保护通气</a:t>
            </a:r>
          </a:p>
          <a:p>
            <a:pPr algn="ctr"/>
            <a:r>
              <a:rPr sz="850" b="0">
                <a:solidFill>
                  <a:srgbClr val="1C7293"/>
                </a:solidFill>
                <a:latin typeface="Microsoft YaHei"/>
                <a:ea typeface="Microsoft YaHei"/>
                <a:cs typeface="Microsoft YaHei"/>
              </a:rPr>
              <a:t>应力量化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8844" y="1078992"/>
            <a:ext cx="1719072" cy="96012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8844" y="1078992"/>
            <a:ext cx="1719072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MP 机械功率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累积暴露风险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8844" y="2057400"/>
            <a:ext cx="17190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844" y="205740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1C7293"/>
                </a:solidFill>
                <a:latin typeface="Microsoft YaHei"/>
                <a:ea typeface="Microsoft YaHei"/>
                <a:cs typeface="Microsoft YaHei"/>
              </a:rPr>
              <a:t>肺保护通气</a:t>
            </a:r>
          </a:p>
          <a:p>
            <a:pPr algn="ctr"/>
            <a:r>
              <a:rPr sz="850" b="0">
                <a:solidFill>
                  <a:srgbClr val="1C7293"/>
                </a:solidFill>
                <a:latin typeface="Microsoft YaHei"/>
                <a:ea typeface="Microsoft YaHei"/>
                <a:cs typeface="Microsoft YaHei"/>
              </a:rPr>
              <a:t>能量量化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0489" y="1078992"/>
            <a:ext cx="1719072" cy="960120"/>
          </a:xfrm>
          <a:prstGeom prst="roundRect">
            <a:avLst/>
          </a:prstGeom>
          <a:solidFill>
            <a:srgbClr val="C06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0489" y="1078992"/>
            <a:ext cx="1719072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P-SILI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风险监测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0489" y="2057400"/>
            <a:ext cx="17190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6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0489" y="205740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C06C10"/>
                </a:solidFill>
                <a:latin typeface="Microsoft YaHei"/>
                <a:ea typeface="Microsoft YaHei"/>
                <a:cs typeface="Microsoft YaHei"/>
              </a:rPr>
              <a:t>降低损伤</a:t>
            </a:r>
          </a:p>
          <a:p>
            <a:pPr algn="ctr"/>
            <a:r>
              <a:rPr sz="850" b="0">
                <a:solidFill>
                  <a:srgbClr val="C06C10"/>
                </a:solidFill>
                <a:latin typeface="Microsoft YaHei"/>
                <a:ea typeface="Microsoft YaHei"/>
                <a:cs typeface="Microsoft YaHei"/>
              </a:rPr>
              <a:t>自主呼吸风险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2133" y="1078992"/>
            <a:ext cx="1719072" cy="960120"/>
          </a:xfrm>
          <a:prstGeom prst="round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133" y="1078992"/>
            <a:ext cx="1719072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WOB Campbell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六分量分解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133" y="2057400"/>
            <a:ext cx="17190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7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2133" y="205740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2C7A4B"/>
                </a:solidFill>
                <a:latin typeface="Microsoft YaHei"/>
                <a:ea typeface="Microsoft YaHei"/>
                <a:cs typeface="Microsoft YaHei"/>
              </a:rPr>
              <a:t>个性化通气</a:t>
            </a:r>
          </a:p>
          <a:p>
            <a:pPr algn="ctr"/>
            <a:r>
              <a:rPr sz="850" b="0">
                <a:solidFill>
                  <a:srgbClr val="2C7A4B"/>
                </a:solidFill>
                <a:latin typeface="Microsoft YaHei"/>
                <a:ea typeface="Microsoft YaHei"/>
                <a:cs typeface="Microsoft YaHei"/>
              </a:rPr>
              <a:t>呼吸肌负荷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3778" y="1078992"/>
            <a:ext cx="1719072" cy="960120"/>
          </a:xfrm>
          <a:prstGeom prst="roundRect">
            <a:avLst/>
          </a:prstGeom>
          <a:solidFill>
            <a:srgbClr val="5B2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3778" y="1078992"/>
            <a:ext cx="1719072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PVA 实时判别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 AI指数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3778" y="2057400"/>
            <a:ext cx="17190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2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3778" y="205740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5B2C8F"/>
                </a:solidFill>
                <a:latin typeface="Microsoft YaHei"/>
                <a:ea typeface="Microsoft YaHei"/>
                <a:cs typeface="Microsoft YaHei"/>
              </a:rPr>
              <a:t>人机协调</a:t>
            </a:r>
          </a:p>
          <a:p>
            <a:pPr algn="ctr"/>
            <a:r>
              <a:rPr sz="850" b="0">
                <a:solidFill>
                  <a:srgbClr val="5B2C8F"/>
                </a:solidFill>
                <a:latin typeface="Microsoft YaHei"/>
                <a:ea typeface="Microsoft YaHei"/>
                <a:cs typeface="Microsoft YaHei"/>
              </a:rPr>
              <a:t>同步性优化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5423" y="1078992"/>
            <a:ext cx="1719072" cy="9601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5423" y="1078992"/>
            <a:ext cx="1719072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ABG 血气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+力学联合分析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423" y="2057400"/>
            <a:ext cx="171907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5423" y="205740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>个性化通气</a:t>
            </a:r>
          </a:p>
          <a:p>
            <a:pPr algn="ctr"/>
            <a:r>
              <a:rPr sz="850" b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>气体交换闭环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16736" y="2459736"/>
            <a:ext cx="4779111" cy="301752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28380" y="2459736"/>
            <a:ext cx="2867467" cy="301752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40025" y="2459736"/>
            <a:ext cx="955822" cy="301752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095847" y="2459736"/>
            <a:ext cx="955822" cy="301752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095847" y="2459736"/>
            <a:ext cx="2867467" cy="301752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095847" y="2459736"/>
            <a:ext cx="4779112" cy="301752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2761488"/>
            <a:ext cx="11277295" cy="1536192"/>
          </a:xfrm>
          <a:prstGeom prst="roundRect">
            <a:avLst/>
          </a:prstGeom>
          <a:solidFill>
            <a:srgbClr val="0B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761488"/>
            <a:ext cx="11277295" cy="153619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六大功能联合解决的痛点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构建从 应力 -&gt; 能量 -&gt; 自主努力 -&gt; 人机同步 -&gt; 气体交换 的全链条呼吸力学监测体系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将VILI风险从 单点、单参数 升级为 多维、累积、趋势 量化管理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 肺保护 + 膈肌保护 + 人机协调 + 气体交换 四位一体智能通气决策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形成从 风险识别 -&gt; 趋势追踪 -&gt; 预警提示 -&gt; 参数调整建议 的临床闭环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62272"/>
            <a:ext cx="5486400" cy="214884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4462272"/>
            <a:ext cx="5486400" cy="4114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462272"/>
            <a:ext cx="54864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各功能侧重解决的问题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37760"/>
            <a:ext cx="7772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Microsoft YaHei"/>
                <a:ea typeface="Microsoft YaHei"/>
                <a:cs typeface="Microsoft YaHei"/>
              </a:rPr>
              <a:t>DP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4937760"/>
            <a:ext cx="44348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量化肺应力累积负担，识别参数正常但累积风险已高的隐匿风险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202936"/>
            <a:ext cx="7772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202936"/>
            <a:ext cx="44348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量化能量负荷累积，发现单参数正常但总能量过高的盲区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468112"/>
            <a:ext cx="7772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C06C10"/>
                </a:solidFill>
                <a:latin typeface="Microsoft YaHei"/>
                <a:ea typeface="Microsoft YaHei"/>
                <a:cs typeface="Microsoft YaHei"/>
              </a:rPr>
              <a:t>P-SILI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468112"/>
            <a:ext cx="44348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预警自主呼吸过强导致的隐匿性肺损伤，指导镇静/支持调整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733288"/>
            <a:ext cx="7772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2C7A4B"/>
                </a:solidFill>
                <a:latin typeface="Microsoft YaHei"/>
                <a:ea typeface="Microsoft YaHei"/>
                <a:cs typeface="Microsoft YaHei"/>
              </a:rPr>
              <a:t>WOB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733288"/>
            <a:ext cx="44348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精准分解呼吸肌负荷各分量，评估撤机潜力与内源性PEEP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998464"/>
            <a:ext cx="7772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5B2C8F"/>
                </a:solidFill>
                <a:latin typeface="Microsoft YaHei"/>
                <a:ea typeface="Microsoft YaHei"/>
                <a:cs typeface="Microsoft YaHei"/>
              </a:rPr>
              <a:t>PVA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998464"/>
            <a:ext cx="44348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实时识别人机不同步类型与频率，优化触发/切换设置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263640"/>
            <a:ext cx="7772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>ABG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6263640"/>
            <a:ext cx="443484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血气与力学参数联动，提供气体交换层面的闭环决策支持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5352" y="4462272"/>
            <a:ext cx="5486400" cy="2148840"/>
          </a:xfrm>
          <a:prstGeom prst="roundRect">
            <a:avLst/>
          </a:prstGeom>
          <a:solidFill>
            <a:srgbClr val="F1F8F2"/>
          </a:solidFill>
          <a:ln w="15875">
            <a:solidFill>
              <a:srgbClr val="2C7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45352" y="4462272"/>
            <a:ext cx="5486400" cy="411480"/>
          </a:xfrm>
          <a:prstGeom prst="round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5352" y="4462272"/>
            <a:ext cx="54864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形成的核心竞争力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9944" y="4965192"/>
            <a:ext cx="5157216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•  从单参数监测升级为多维累积风险量化+智能预警+决策支持平台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9944" y="5248655"/>
            <a:ext cx="5157216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•  肺-膈肌双重保护技术壁垒，覆盖VILI和P-SILI两大损伤机制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9944" y="5532119"/>
            <a:ext cx="5157216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•  多源数据（力学+血气+波形）内部统一融合，无需外接系统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944" y="5815583"/>
            <a:ext cx="5157216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•  AI统一风险分层引擎，将复杂力学数据转化为临床可执行建议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9944" y="6099047"/>
            <a:ext cx="5157216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A33"/>
                </a:solidFill>
                <a:latin typeface="Microsoft YaHei"/>
                <a:ea typeface="Microsoft YaHei"/>
                <a:cs typeface="Microsoft YaHei"/>
              </a:rPr>
              <a:t>•  六大功能模块化组合，普通机型覆盖基础，高端机型深度分析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